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1D0"/>
    <a:srgbClr val="0E3353"/>
    <a:srgbClr val="FFFFFF"/>
    <a:srgbClr val="24316A"/>
    <a:srgbClr val="0F3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821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promise: JANSETU closes the gap between what citizens say and what public systems can act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as a coordination and evidence problem, not simply an AI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accountability: the product does not replace public authority; it helps public authority see and act on citizen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3557"/>
          </a:solidFill>
          <a:ln w="12700">
            <a:solidFill>
              <a:srgbClr val="0F35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0196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JANSETU AI  /  DIGITAL PUBLIC GOOD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75520" y="660196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kern="0" spc="120" dirty="0">
                <a:solidFill>
                  <a:srgbClr val="BFE8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2026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960120"/>
            <a:ext cx="5303520" cy="5303520"/>
          </a:xfrm>
          <a:prstGeom prst="arc">
            <a:avLst/>
          </a:prstGeom>
          <a:solidFill>
            <a:srgbClr val="0F3557">
              <a:alpha val="0"/>
            </a:srgbClr>
          </a:solidFill>
          <a:ln w="38100">
            <a:solidFill>
              <a:srgbClr val="0F9D5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-228600"/>
            <a:ext cx="3931920" cy="3931920"/>
          </a:xfrm>
          <a:prstGeom prst="arc">
            <a:avLst/>
          </a:prstGeom>
          <a:solidFill>
            <a:srgbClr val="0F3557">
              <a:alpha val="0"/>
            </a:srgbClr>
          </a:solidFill>
          <a:ln w="19050">
            <a:solidFill>
              <a:srgbClr val="F4B942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0" y="1097280"/>
            <a:ext cx="64008" cy="64008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200" y="6171438"/>
            <a:ext cx="7906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AFC6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pitch  |  Synthetic data clearly labeled</a:t>
            </a:r>
            <a:endParaRPr lang="en-US" sz="2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3A7CE9-FAB9-19D1-60CB-3C7B1726CBD2}"/>
              </a:ext>
            </a:extLst>
          </p:cNvPr>
          <p:cNvSpPr/>
          <p:nvPr/>
        </p:nvSpPr>
        <p:spPr>
          <a:xfrm>
            <a:off x="116840" y="121920"/>
            <a:ext cx="2768600" cy="1267967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0B9451A-8985-553B-A33A-6DFD5C9B90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30200" y="296321"/>
            <a:ext cx="2438400" cy="919163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F8D4849-E77E-044B-92F3-F84D2E03A4DD}"/>
              </a:ext>
            </a:extLst>
          </p:cNvPr>
          <p:cNvSpPr txBox="1"/>
          <p:nvPr/>
        </p:nvSpPr>
        <p:spPr>
          <a:xfrm>
            <a:off x="325120" y="2409342"/>
            <a:ext cx="3840480" cy="1818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Governments struggle to unite scattered citizen feedback with national priorities, causing wasted public spending, overlooked community needs, and untracked infrastructure impact.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635A92C-E65C-78D2-71FE-745A217C007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2931920" y="121919"/>
            <a:ext cx="4906519" cy="126796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7BD0AD2-BF65-C1FA-FE32-582DB2783602}"/>
              </a:ext>
            </a:extLst>
          </p:cNvPr>
          <p:cNvSpPr txBox="1"/>
          <p:nvPr/>
        </p:nvSpPr>
        <p:spPr>
          <a:xfrm>
            <a:off x="325120" y="1852219"/>
            <a:ext cx="3464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Problem Statement: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9B12D2-841A-33F2-6EA7-A372EBB6FD2B}"/>
              </a:ext>
            </a:extLst>
          </p:cNvPr>
          <p:cNvSpPr/>
          <p:nvPr/>
        </p:nvSpPr>
        <p:spPr>
          <a:xfrm>
            <a:off x="7955281" y="121917"/>
            <a:ext cx="4119879" cy="1267967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0CCDE44-9EFA-6C81-D57B-778E53D3541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 l="5117" t="29811" r="4713" b="29917"/>
          <a:stretch>
            <a:fillRect/>
          </a:stretch>
        </p:blipFill>
        <p:spPr>
          <a:xfrm>
            <a:off x="7955279" y="145804"/>
            <a:ext cx="4119881" cy="126796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EAB421D-5559-A756-0059-54DA650881E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3906521" y="1645920"/>
            <a:ext cx="4119881" cy="3918715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F92D6C0-6402-B330-C818-1A0260F8B150}"/>
              </a:ext>
            </a:extLst>
          </p:cNvPr>
          <p:cNvSpPr txBox="1"/>
          <p:nvPr/>
        </p:nvSpPr>
        <p:spPr>
          <a:xfrm>
            <a:off x="10520680" y="5820579"/>
            <a:ext cx="33426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Presented by:</a:t>
            </a:r>
          </a:p>
          <a:p>
            <a:r>
              <a:rPr lang="en-IN" dirty="0">
                <a:solidFill>
                  <a:schemeClr val="bg1"/>
                </a:solidFill>
              </a:rPr>
              <a:t>Devarsh Patel</a:t>
            </a:r>
          </a:p>
          <a:p>
            <a:r>
              <a:rPr lang="en-IN" dirty="0">
                <a:solidFill>
                  <a:schemeClr val="bg1"/>
                </a:solidFill>
              </a:rPr>
              <a:t>Nand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GAP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Citizens speak. Systems receive fragments.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5" y="1353311"/>
            <a:ext cx="11256265" cy="5318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information exists, but it is multilingual, duplicated, geographically scattered, and disconnected from investment decisions.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993391"/>
            <a:ext cx="3502152" cy="1884163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576073" y="1993392"/>
            <a:ext cx="45719" cy="1884162"/>
          </a:xfrm>
          <a:prstGeom prst="rect">
            <a:avLst/>
          </a:prstGeom>
          <a:solidFill>
            <a:srgbClr val="174EA6"/>
          </a:solidFill>
          <a:ln w="12700">
            <a:solidFill>
              <a:srgbClr val="174E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9432" y="1937267"/>
            <a:ext cx="3547872" cy="65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demand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496312"/>
            <a:ext cx="3227832" cy="1140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Voice, web forms, meetings, messaging and grievance channels create a noisy stream of requests</a:t>
            </a:r>
            <a:r>
              <a:rPr lang="en-US" sz="105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70832" y="1993392"/>
            <a:ext cx="3429000" cy="1884162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993392"/>
            <a:ext cx="45719" cy="1884162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0851" y="1917690"/>
            <a:ext cx="3154681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Invisible patterns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2496312"/>
            <a:ext cx="3017521" cy="1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issues remain separate. Hotspots and underserved communities are hard to compare fairly.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119872" y="1993392"/>
            <a:ext cx="3429000" cy="1884162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993392"/>
            <a:ext cx="64008" cy="188416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89037" y="1937266"/>
            <a:ext cx="3294887" cy="6512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action loop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21040" y="2496311"/>
            <a:ext cx="3262884" cy="1381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complaint may be acknowledged, but not connected to evidence, funding, delivery or measured impact.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028700" y="4775200"/>
            <a:ext cx="9738360" cy="0"/>
          </a:xfrm>
          <a:prstGeom prst="line">
            <a:avLst/>
          </a:prstGeom>
          <a:noFill/>
          <a:ln w="25400">
            <a:solidFill>
              <a:srgbClr val="D8E1EA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414528" y="4276892"/>
            <a:ext cx="1524000" cy="4764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938528" y="4308358"/>
            <a:ext cx="9130284" cy="49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citizen effort, low institutional visibility, and prioritization that can feel opaque.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187952" y="5108447"/>
            <a:ext cx="3167888" cy="658352"/>
          </a:xfrm>
          <a:prstGeom prst="roundRect">
            <a:avLst>
              <a:gd name="adj" fmla="val 50000"/>
            </a:avLst>
          </a:prstGeom>
          <a:solidFill>
            <a:srgbClr val="0F3557"/>
          </a:solidFill>
          <a:ln w="12700">
            <a:solidFill>
              <a:srgbClr val="0F355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3832" y="5108447"/>
            <a:ext cx="3056128" cy="6492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another complaint chatbot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960635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JANSETU is the intelligence layer between citizen demand and accountable public action</a:t>
            </a:r>
            <a:r>
              <a:rPr lang="en-US" sz="14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continuous civic intelligence loop.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289304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JANSETU preserves citizen intent, makes evidence visible, and keeps the final decision with authorized public officials.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1938528" cy="2039112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877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614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voice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57276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Gujarati / Hindi / English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text, voice, photo, location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51176" y="2962656"/>
            <a:ext cx="274320" cy="256032"/>
          </a:xfrm>
          <a:prstGeom prst="chevron">
            <a:avLst/>
          </a:prstGeom>
          <a:solidFill>
            <a:srgbClr val="0F9D58"/>
          </a:solidFill>
          <a:ln w="12700">
            <a:solidFill>
              <a:srgbClr val="0F9D5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2084832"/>
            <a:ext cx="1938528" cy="2039112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185416"/>
            <a:ext cx="877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044952" y="27614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understanding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63240" y="3204972"/>
            <a:ext cx="16002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Translate, classify, summarize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schema validation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64608" y="2962656"/>
            <a:ext cx="274320" cy="256032"/>
          </a:xfrm>
          <a:prstGeom prst="chevron">
            <a:avLst/>
          </a:prstGeom>
          <a:solidFill>
            <a:srgbClr val="0F9D58"/>
          </a:solidFill>
          <a:ln w="12700">
            <a:solidFill>
              <a:srgbClr val="0F9D5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2034540"/>
            <a:ext cx="1938528" cy="2039112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2235708"/>
            <a:ext cx="8778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58384" y="2761488"/>
            <a:ext cx="1764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fusion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358384" y="3246120"/>
            <a:ext cx="1692656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demand with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demographics + infrastructure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2962656"/>
            <a:ext cx="274320" cy="256032"/>
          </a:xfrm>
          <a:prstGeom prst="chevron">
            <a:avLst/>
          </a:prstGeom>
          <a:solidFill>
            <a:srgbClr val="0F9D58"/>
          </a:solidFill>
          <a:ln w="12700">
            <a:solidFill>
              <a:srgbClr val="0F9D5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07224" y="2084832"/>
            <a:ext cx="1938528" cy="2039112"/>
          </a:xfrm>
          <a:prstGeom prst="roundRect">
            <a:avLst>
              <a:gd name="adj" fmla="val 7075"/>
            </a:avLst>
          </a:prstGeom>
          <a:solidFill>
            <a:srgbClr val="0F3557"/>
          </a:solidFill>
          <a:ln w="12700">
            <a:solidFill>
              <a:srgbClr val="0F355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71816" y="2286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D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89520" y="2601468"/>
            <a:ext cx="17221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priority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71816" y="3246120"/>
            <a:ext cx="1572768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8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score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D8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six stored components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91472" y="2962656"/>
            <a:ext cx="274320" cy="256032"/>
          </a:xfrm>
          <a:prstGeom prst="chevron">
            <a:avLst/>
          </a:prstGeom>
          <a:solidFill>
            <a:srgbClr val="0F9D58"/>
          </a:solidFill>
          <a:ln w="12700">
            <a:solidFill>
              <a:srgbClr val="0F9D5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0656" y="2084832"/>
            <a:ext cx="1938528" cy="2039112"/>
          </a:xfrm>
          <a:prstGeom prst="roundRect">
            <a:avLst>
              <a:gd name="adj" fmla="val 7075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85248" y="22860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985248" y="2670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12680" y="3136392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Project, budget, approval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measurable impact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481328" y="4782312"/>
            <a:ext cx="9217152" cy="658368"/>
          </a:xfrm>
          <a:prstGeom prst="roundRect">
            <a:avLst>
              <a:gd name="adj" fmla="val 20833"/>
            </a:avLst>
          </a:prstGeom>
          <a:solidFill>
            <a:srgbClr val="DDF4E8"/>
          </a:solidFill>
          <a:ln w="12700">
            <a:solidFill>
              <a:srgbClr val="DDF4E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55648" y="4974336"/>
            <a:ext cx="8686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design principle: Gemini can understand and explain. It cannot silently change weights, invent evidence, or approve funding.</a:t>
            </a:r>
            <a:endParaRPr lang="en-US" sz="16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THE DEMO STORY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monsoon road request becomes a decision-ready case.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Gujarati citizen journey demonstrates the full chain from intake to impact.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3822192" cy="3520440"/>
          </a:xfrm>
          <a:prstGeom prst="roundRect">
            <a:avLst>
              <a:gd name="adj" fmla="val 5195"/>
            </a:avLst>
          </a:prstGeom>
          <a:solidFill>
            <a:srgbClr val="0F3557"/>
          </a:solidFill>
          <a:ln w="12700">
            <a:solidFill>
              <a:srgbClr val="0F355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6771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અમારા ગામનો રસ્તો વરસાદમાં બંધ થઈ જાય છે.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2688" y="2909824"/>
            <a:ext cx="31272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D8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village road closes in the monsoon. Reaching the hospital takes too long, and children struggle to reach school.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932688" y="4782312"/>
            <a:ext cx="2247392" cy="493776"/>
          </a:xfrm>
          <a:prstGeom prst="roundRect">
            <a:avLst>
              <a:gd name="adj" fmla="val 50000"/>
            </a:avLst>
          </a:prstGeom>
          <a:solidFill>
            <a:srgbClr val="DDF4E8"/>
          </a:solidFill>
          <a:ln w="12700">
            <a:solidFill>
              <a:srgbClr val="DDF4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3160" y="4905756"/>
            <a:ext cx="188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Gujarati  /  location-aware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2688" y="50840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02352" y="2039112"/>
            <a:ext cx="5870448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0096" y="22037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70448" y="2157984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Understood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43800" y="215798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roads · urgency 4/5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513832" y="2697480"/>
            <a:ext cx="0" cy="201168"/>
          </a:xfrm>
          <a:prstGeom prst="line">
            <a:avLst/>
          </a:prstGeom>
          <a:noFill/>
          <a:ln w="19050">
            <a:solidFill>
              <a:srgbClr val="0F9D5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102352" y="2898648"/>
            <a:ext cx="5870448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3063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70448" y="301752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Clustered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43800" y="301752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4,219 related requests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513832" y="3557016"/>
            <a:ext cx="0" cy="201168"/>
          </a:xfrm>
          <a:prstGeom prst="line">
            <a:avLst/>
          </a:prstGeom>
          <a:noFill/>
          <a:ln w="19050">
            <a:solidFill>
              <a:srgbClr val="0F9D5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102352" y="3758184"/>
            <a:ext cx="5870448" cy="658368"/>
          </a:xfrm>
          <a:prstGeom prst="roundRect">
            <a:avLst>
              <a:gd name="adj" fmla="val 18056"/>
            </a:avLst>
          </a:prstGeom>
          <a:solidFill>
            <a:srgbClr val="E8F0FE"/>
          </a:solidFill>
          <a:ln w="12700">
            <a:solidFill>
              <a:srgbClr val="174E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0096" y="39227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70448" y="387705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Scored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543800" y="38770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78.4 · HIGH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513832" y="4416552"/>
            <a:ext cx="0" cy="201168"/>
          </a:xfrm>
          <a:prstGeom prst="line">
            <a:avLst/>
          </a:prstGeom>
          <a:noFill/>
          <a:ln w="19050">
            <a:solidFill>
              <a:srgbClr val="0F9D58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102352" y="4617720"/>
            <a:ext cx="5870448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0096" y="47823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70448" y="47365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43800" y="473659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₹4.2 Cr estimate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38928" y="57058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story. Full chain. Human decision at the end.</a:t>
            </a:r>
            <a:endParaRPr lang="en-US" sz="2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4</a:t>
            </a:fld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THE INTELLIGENCE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score is explainable by design.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helps understand the request. The official priority score is calculated by a versioned deterministic engine.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368" y="1975104"/>
            <a:ext cx="4709160" cy="3566160"/>
          </a:xfrm>
          <a:prstGeom prst="roundRect">
            <a:avLst>
              <a:gd name="adj" fmla="val 4615"/>
            </a:avLst>
          </a:prstGeom>
          <a:solidFill>
            <a:srgbClr val="0F3557"/>
          </a:solidFill>
          <a:ln w="12700">
            <a:solidFill>
              <a:srgbClr val="0F3557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042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kern="0" spc="150" dirty="0">
                <a:solidFill>
                  <a:srgbClr val="DD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SCORE v1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78.4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3977640" y="304495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305409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86791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8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component and weightVersion is persisted.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D8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opaque final score.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70916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DD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× 0.30  +  infrastructure gap × 0.20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D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impact × 0.15  +  vulnerability × 0.15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DD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 × 0.10  +  feasibility × 0.10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25312" y="203911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2066544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E7EDF2"/>
          </a:solidFill>
          <a:ln w="12700">
            <a:solidFill>
              <a:srgbClr val="E7EDF2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2066544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0F9D58"/>
          </a:solidFill>
          <a:ln w="12700">
            <a:solidFill>
              <a:srgbClr val="0F9D5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0" y="20299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082528" y="202996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25312" y="256946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gap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98080" y="2596896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E7EDF2"/>
          </a:solidFill>
          <a:ln w="12700">
            <a:solidFill>
              <a:srgbClr val="E7ED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2596896"/>
            <a:ext cx="1783080" cy="155448"/>
          </a:xfrm>
          <a:prstGeom prst="roundRect">
            <a:avLst>
              <a:gd name="adj" fmla="val 47059"/>
            </a:avLst>
          </a:prstGeom>
          <a:solidFill>
            <a:srgbClr val="174EA6"/>
          </a:solidFill>
          <a:ln w="12700">
            <a:solidFill>
              <a:srgbClr val="174EA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07040" y="2560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82528" y="2560320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25312" y="30998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Population impact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98080" y="3127248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E7EDF2"/>
          </a:solidFill>
          <a:ln w="12700">
            <a:solidFill>
              <a:srgbClr val="E7EDF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3127248"/>
            <a:ext cx="1842516" cy="155448"/>
          </a:xfrm>
          <a:prstGeom prst="roundRect">
            <a:avLst>
              <a:gd name="adj" fmla="val 47059"/>
            </a:avLst>
          </a:prstGeom>
          <a:solidFill>
            <a:srgbClr val="6B8FD3"/>
          </a:solidFill>
          <a:ln w="12700">
            <a:solidFill>
              <a:srgbClr val="6B8FD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07040" y="3090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082528" y="309067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25312" y="3630168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Vulnerability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98080" y="3657600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E7EDF2"/>
          </a:solidFill>
          <a:ln w="12700">
            <a:solidFill>
              <a:srgbClr val="E7EDF2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3657600"/>
            <a:ext cx="2436876" cy="155448"/>
          </a:xfrm>
          <a:prstGeom prst="roundRect">
            <a:avLst>
              <a:gd name="adj" fmla="val 47059"/>
            </a:avLst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0" y="36210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082528" y="3621024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25312" y="41605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Urgency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98080" y="4187952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E7EDF2"/>
          </a:solidFill>
          <a:ln w="12700">
            <a:solidFill>
              <a:srgbClr val="E7EDF2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4187952"/>
            <a:ext cx="2377440" cy="155448"/>
          </a:xfrm>
          <a:prstGeom prst="roundRect">
            <a:avLst>
              <a:gd name="adj" fmla="val 47059"/>
            </a:avLst>
          </a:prstGeom>
          <a:solidFill>
            <a:srgbClr val="D58B24"/>
          </a:solidFill>
          <a:ln w="12700">
            <a:solidFill>
              <a:srgbClr val="D58B24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7040" y="41513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082528" y="4151376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925312" y="4690872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498080" y="4718304"/>
            <a:ext cx="2971800" cy="155448"/>
          </a:xfrm>
          <a:prstGeom prst="roundRect">
            <a:avLst>
              <a:gd name="adj" fmla="val 47059"/>
            </a:avLst>
          </a:prstGeom>
          <a:solidFill>
            <a:srgbClr val="E7EDF2"/>
          </a:solidFill>
          <a:ln w="12700">
            <a:solidFill>
              <a:srgbClr val="E7EDF2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4718304"/>
            <a:ext cx="2020824" cy="155448"/>
          </a:xfrm>
          <a:prstGeom prst="roundRect">
            <a:avLst>
              <a:gd name="adj" fmla="val 47059"/>
            </a:avLst>
          </a:prstGeom>
          <a:solidFill>
            <a:srgbClr val="8BA6B8"/>
          </a:solidFill>
          <a:ln w="12700">
            <a:solidFill>
              <a:srgbClr val="8BA6B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607040" y="46817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1082528" y="468172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25312" y="5394960"/>
            <a:ext cx="4234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drivers: demand + vulnerability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944616" y="57891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Limiting factor: feasibility survey pending</a:t>
            </a:r>
            <a:endParaRPr lang="en-US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50" b="0"/>
              <a:t>5</a:t>
            </a:fld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THE BUILD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boundary between intelligence, evidence and authority.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10607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experience on top of an Express API, shared schemas, governed AI orchestration and auditable data services.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13232" y="2121408"/>
            <a:ext cx="3154680" cy="2514600"/>
          </a:xfrm>
          <a:prstGeom prst="roundRect">
            <a:avLst>
              <a:gd name="adj" fmla="val 6545"/>
            </a:avLst>
          </a:prstGeom>
          <a:solidFill>
            <a:srgbClr val="E8F0FE"/>
          </a:solidFill>
          <a:ln w="12700">
            <a:solidFill>
              <a:srgbClr val="E8F0F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423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+ government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99744" y="3172968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14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UI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Auth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+ dashboards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032504" y="3218688"/>
            <a:ext cx="347472" cy="256032"/>
          </a:xfrm>
          <a:prstGeom prst="chevron">
            <a:avLst/>
          </a:prstGeom>
          <a:solidFill>
            <a:srgbClr val="0F9D58"/>
          </a:solidFill>
          <a:ln w="12700">
            <a:solidFill>
              <a:srgbClr val="0F9D5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2121408"/>
            <a:ext cx="3154680" cy="2514600"/>
          </a:xfrm>
          <a:prstGeom prst="roundRect">
            <a:avLst>
              <a:gd name="adj" fmla="val 6545"/>
            </a:avLst>
          </a:prstGeom>
          <a:solidFill>
            <a:srgbClr val="DDF4E8"/>
          </a:solidFill>
          <a:ln w="12700">
            <a:solidFill>
              <a:srgbClr val="DDF4E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423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JANSETU API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09744" y="3154680"/>
            <a:ext cx="25603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+ TypeScript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+ RBAC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orchestration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872984" y="3218688"/>
            <a:ext cx="347472" cy="256032"/>
          </a:xfrm>
          <a:prstGeom prst="chevron">
            <a:avLst/>
          </a:prstGeom>
          <a:solidFill>
            <a:srgbClr val="0F9D58"/>
          </a:solidFill>
          <a:ln w="12700">
            <a:solidFill>
              <a:srgbClr val="0F9D5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121408"/>
            <a:ext cx="3154680" cy="2514600"/>
          </a:xfrm>
          <a:prstGeom prst="roundRect">
            <a:avLst>
              <a:gd name="adj" fmla="val 6545"/>
            </a:avLst>
          </a:prstGeom>
          <a:solidFill>
            <a:srgbClr val="FFF7E1"/>
          </a:solidFill>
          <a:ln w="12700">
            <a:solidFill>
              <a:srgbClr val="FFF7E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50224" y="242316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decision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619744" y="3110484"/>
            <a:ext cx="282854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/ Firebase AI Logic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Firestore + BigQuery GIS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Storage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17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engine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70432" y="5074920"/>
            <a:ext cx="9829800" cy="603504"/>
          </a:xfrm>
          <a:prstGeom prst="roundRect">
            <a:avLst>
              <a:gd name="adj" fmla="val 24242"/>
            </a:avLst>
          </a:prstGeom>
          <a:solidFill>
            <a:srgbClr val="0F3557"/>
          </a:solidFill>
          <a:ln w="12700">
            <a:solidFill>
              <a:srgbClr val="0F355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52486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DD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boundary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90672" y="5230368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 may understand, classify, translate and draft. It must not invent evidence, alter weights or approve funding.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50" b="0"/>
              <a:t>6</a:t>
            </a:fld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kern="0" spc="180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THE PRODUCT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experiences. One accountable system.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citizen sees clarity and status. The public official sees evidence, trade-offs and decision controls.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5230368" cy="3611880"/>
          </a:xfrm>
          <a:prstGeom prst="roundRect">
            <a:avLst>
              <a:gd name="adj" fmla="val 45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240280"/>
            <a:ext cx="1851152" cy="384048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E8F0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49424"/>
            <a:ext cx="1851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4E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PWA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277977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participation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feel possible.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60120" y="3822192"/>
            <a:ext cx="109728" cy="109728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7581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 or type in your language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4169664"/>
            <a:ext cx="109728" cy="109728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41056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 and location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4517136"/>
            <a:ext cx="109728" cy="109728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4531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AI understanding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4864608"/>
            <a:ext cx="109728" cy="109728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4800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request → action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91072" y="1938528"/>
            <a:ext cx="5230368" cy="3611880"/>
          </a:xfrm>
          <a:prstGeom prst="roundRect">
            <a:avLst>
              <a:gd name="adj" fmla="val 4557"/>
            </a:avLst>
          </a:prstGeom>
          <a:solidFill>
            <a:srgbClr val="0F3557"/>
          </a:solidFill>
          <a:ln w="12700">
            <a:solidFill>
              <a:srgbClr val="0F35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2240280"/>
            <a:ext cx="2468880" cy="346964"/>
          </a:xfrm>
          <a:prstGeom prst="roundRect">
            <a:avLst>
              <a:gd name="adj" fmla="val 50000"/>
            </a:avLst>
          </a:prstGeom>
          <a:solidFill>
            <a:srgbClr val="DDF4E8"/>
          </a:solidFill>
          <a:ln w="12700">
            <a:solidFill>
              <a:srgbClr val="DDF4E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249424"/>
            <a:ext cx="2468880" cy="3469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GOVERNMENT WORKSPACE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259638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evidence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into decisions.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6611112" y="3822192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37581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8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Hotspot map + priority queue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11112" y="4169664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410565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8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and score breakdown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611112" y="4517136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4453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8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trade-off simulation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11112" y="4864608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48006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D8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+ impact loop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7280" y="592531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labels throughout: AI-assisted  ·  Verified dataset  ·  Estimated  ·  Human review required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00" b="0"/>
              <a:t>7</a:t>
            </a:fld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kern="0" spc="180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PROOF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complete chain is running in the demo.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live harness validates the main civic workflow, including multilingual intake, governance labels and impact reporting.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2011680" cy="841248"/>
          </a:xfrm>
          <a:prstGeom prst="roundRect">
            <a:avLst>
              <a:gd name="adj" fmla="val 13043"/>
            </a:avLst>
          </a:prstGeom>
          <a:solidFill>
            <a:srgbClr val="DDF4E8"/>
          </a:solidFill>
          <a:ln w="12700">
            <a:solidFill>
              <a:srgbClr val="DDF4E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12140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/ 32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86384" y="25420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 checks passed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07792" y="2011680"/>
            <a:ext cx="2011680" cy="841248"/>
          </a:xfrm>
          <a:prstGeom prst="roundRect">
            <a:avLst>
              <a:gd name="adj" fmla="val 13043"/>
            </a:avLst>
          </a:prstGeom>
          <a:solidFill>
            <a:srgbClr val="E8F0FE"/>
          </a:solidFill>
          <a:ln w="12700">
            <a:solidFill>
              <a:srgbClr val="E8F0F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5808" y="212140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78.4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035808" y="25420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score · high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57216" y="2011680"/>
            <a:ext cx="2011680" cy="841248"/>
          </a:xfrm>
          <a:prstGeom prst="roundRect">
            <a:avLst>
              <a:gd name="adj" fmla="val 13043"/>
            </a:avLst>
          </a:prstGeom>
          <a:solidFill>
            <a:srgbClr val="FFF7E1"/>
          </a:solidFill>
          <a:ln w="12700">
            <a:solidFill>
              <a:srgbClr val="FFF7E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212140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4,219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285232" y="25420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requests clustered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20116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34656" y="212140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₹4.2 Cr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534656" y="2542032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project estimate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56064" y="2011680"/>
            <a:ext cx="18745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212140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12,400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784080" y="2542032"/>
            <a:ext cx="1618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beneficiaries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" y="3465576"/>
            <a:ext cx="182880" cy="1828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3456432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25880" y="34015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Gujarati intake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29000" y="3401568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detected, translated, preserved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32688" y="3995928"/>
            <a:ext cx="182880" cy="1828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" y="3986784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39319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trace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429000" y="39319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demographics + infrastructure + investment refs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4526280"/>
            <a:ext cx="182880" cy="1828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4517136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25880" y="4462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429000" y="446227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and state transitions are audited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932688" y="5056632"/>
            <a:ext cx="182880" cy="182880"/>
          </a:xfrm>
          <a:prstGeom prst="ellipse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" y="5047488"/>
            <a:ext cx="109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25880" y="49926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integrity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3429000" y="499262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vs estimated values separated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8887968" y="3291840"/>
            <a:ext cx="2514600" cy="1947672"/>
          </a:xfrm>
          <a:prstGeom prst="roundRect">
            <a:avLst>
              <a:gd name="adj" fmla="val 8854"/>
            </a:avLst>
          </a:prstGeom>
          <a:solidFill>
            <a:srgbClr val="0F3557"/>
          </a:solidFill>
          <a:ln w="12700">
            <a:solidFill>
              <a:srgbClr val="0F355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62288" y="3575304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D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truth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8743188" y="3931920"/>
            <a:ext cx="2804160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data is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clearly labeled.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connectors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the next step</a:t>
            </a: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50" b="0"/>
              <a:t>8</a:t>
            </a:fld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kern="0" spc="180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TRUST + 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881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responsible adoption, not just a flashy demo.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85216" y="1353312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makes the governance contract visible while leaving a clear path to production deployment.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340156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11680"/>
            <a:ext cx="64008" cy="137160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16712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by default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9536" y="2514600"/>
            <a:ext cx="3035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analytics, minimized precise location, no religion/caste/political profiling.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40156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011680"/>
            <a:ext cx="64008" cy="1371600"/>
          </a:xfrm>
          <a:prstGeom prst="rect">
            <a:avLst/>
          </a:prstGeom>
          <a:solidFill>
            <a:srgbClr val="174EA6"/>
          </a:solidFill>
          <a:ln w="12700">
            <a:solidFill>
              <a:srgbClr val="174E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216712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Human-governed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0288" y="2514600"/>
            <a:ext cx="3035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automatic funding approval. Role-aware review, audit logs and explicit decision states.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19872" y="2011680"/>
            <a:ext cx="3401568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2011680"/>
            <a:ext cx="64008" cy="137160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6712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Evidence-first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21040" y="2514600"/>
            <a:ext cx="3035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score retains components, weights, evidence references, confidence and data gaps.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685032"/>
            <a:ext cx="3108960" cy="4196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build priorities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" y="44622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42569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persistence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97280" y="4966210"/>
            <a:ext cx="2176272" cy="78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Firestore reads + durable event flow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145536" y="4645152"/>
            <a:ext cx="274320" cy="0"/>
          </a:xfrm>
          <a:prstGeom prst="line">
            <a:avLst/>
          </a:prstGeom>
          <a:noFill/>
          <a:ln w="15240">
            <a:solidFill>
              <a:srgbClr val="D8E1EA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3474720" y="44622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13632" y="442569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data connectors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913632" y="4967225"/>
            <a:ext cx="2377440" cy="1088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BigQuery GIS, investment ledger, storage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961888" y="4645152"/>
            <a:ext cx="274320" cy="0"/>
          </a:xfrm>
          <a:prstGeom prst="line">
            <a:avLst/>
          </a:prstGeom>
          <a:noFill/>
          <a:ln w="15240">
            <a:solidFill>
              <a:srgbClr val="D8E1EA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6291072" y="44622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35064" y="4160519"/>
            <a:ext cx="1929384" cy="6918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operations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35064" y="4971288"/>
            <a:ext cx="22128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Firebase tokens, RBAC, App Check, observability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778240" y="4645152"/>
            <a:ext cx="274320" cy="0"/>
          </a:xfrm>
          <a:prstGeom prst="line">
            <a:avLst/>
          </a:prstGeom>
          <a:noFill/>
          <a:ln w="15240">
            <a:solidFill>
              <a:srgbClr val="D8E1EA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9107424" y="446227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9D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546336" y="4233672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3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across regions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546336" y="4966210"/>
            <a:ext cx="230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5F63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Country, language, currency and policy configuration</a:t>
            </a:r>
            <a:endParaRPr lang="en-US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sz="1050" b="0"/>
              <a:t>9</a:t>
            </a:fld>
            <a:endParaRPr lang="en-US"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70000" y="4169664"/>
            <a:ext cx="4937760" cy="4937760"/>
          </a:xfrm>
          <a:prstGeom prst="arc">
            <a:avLst/>
          </a:prstGeom>
          <a:solidFill>
            <a:srgbClr val="0F3557">
              <a:alpha val="0"/>
            </a:srgbClr>
          </a:solidFill>
          <a:ln w="38100">
            <a:solidFill>
              <a:srgbClr val="0F9D58">
                <a:alpha val="7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749040"/>
            <a:ext cx="4754880" cy="4754880"/>
          </a:xfrm>
          <a:prstGeom prst="arc">
            <a:avLst/>
          </a:prstGeom>
          <a:solidFill>
            <a:srgbClr val="0F3557">
              <a:alpha val="0"/>
            </a:srgbClr>
          </a:solidFill>
          <a:ln w="25400">
            <a:solidFill>
              <a:srgbClr val="F4B942">
                <a:alpha val="7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49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kern="0" spc="200" dirty="0">
                <a:solidFill>
                  <a:srgbClr val="DD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JANSETU AI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1377188"/>
            <a:ext cx="78638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every citizen</a:t>
            </a:r>
            <a:endParaRPr lang="en-US" sz="4800" dirty="0"/>
          </a:p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count.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45236" y="33700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D8E8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bridge from lived experience to evidence-backed public action.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5236" y="4594860"/>
            <a:ext cx="4558284" cy="749808"/>
          </a:xfrm>
          <a:prstGeom prst="roundRect">
            <a:avLst>
              <a:gd name="adj" fmla="val 20513"/>
            </a:avLst>
          </a:prstGeom>
          <a:solidFill>
            <a:srgbClr val="0F9D58"/>
          </a:solidFill>
          <a:ln w="12700">
            <a:solidFill>
              <a:srgbClr val="0F9D5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2718" y="4855464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Citizen voice  →  public value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45236" y="59938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DDF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1008</Words>
  <Application>Microsoft Office PowerPoint</Application>
  <PresentationFormat>Widescreen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JANSETU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JANSETU AI | From Citizen Voice to Public Action</dc:title>
  <dc:subject>Hackathon pitch deck</dc:subject>
  <dc:creator>JANSETU AI</dc:creator>
  <cp:lastModifiedBy>Mahesh Patel</cp:lastModifiedBy>
  <cp:revision>2</cp:revision>
  <cp:lastPrinted>2026-08-22T16:36:06Z</cp:lastPrinted>
  <dcterms:created xsi:type="dcterms:W3CDTF">2026-08-22T12:59:41Z</dcterms:created>
  <dcterms:modified xsi:type="dcterms:W3CDTF">2026-08-22T16:44:40Z</dcterms:modified>
</cp:coreProperties>
</file>